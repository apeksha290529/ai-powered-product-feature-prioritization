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id="{1917BFCC-104B-4443-9F1E-5E756424F54B}">
          <p14:sldIdLst>
            <p14:sldId id="256"/>
            <p14:sldId id="259"/>
            <p14:sldId id="260"/>
            <p14:sldId id="261"/>
            <p14:sldId id="262"/>
            <p14:sldId id="263"/>
            <p14:sldId id="264"/>
            <p14:sldId id="265"/>
            <p14:sldId id="266"/>
            <p14:sldId id="26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9B713-8409-099F-2A8F-EC7A9C249A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66031C-135B-59E8-B46D-6100EF93DD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32A4DE8-BF75-6AEB-0EB0-DD0D3F5D7469}"/>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5" name="Footer Placeholder 4">
            <a:extLst>
              <a:ext uri="{FF2B5EF4-FFF2-40B4-BE49-F238E27FC236}">
                <a16:creationId xmlns:a16="http://schemas.microsoft.com/office/drawing/2014/main" id="{99CF5EF5-B732-8F6A-5801-F2C2495F5E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CD3C83-6123-2D56-1D8F-D201F7BF6992}"/>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3017746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02F75-2855-8255-8206-0CDAA51DEC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E92C29-50E1-9237-0FD0-B7552004F5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6E2D91-BB74-8444-1A6D-14C8986DD5B3}"/>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5" name="Footer Placeholder 4">
            <a:extLst>
              <a:ext uri="{FF2B5EF4-FFF2-40B4-BE49-F238E27FC236}">
                <a16:creationId xmlns:a16="http://schemas.microsoft.com/office/drawing/2014/main" id="{E327584C-4949-828A-7D9D-C4F1704F76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C4E343-E811-FB42-BEAB-2145EAD7A11A}"/>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1792918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1476A-36FA-C69D-30A1-2F5820BF50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88AF58-2866-D75D-7EE5-4D8F09C26C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0B9891-96BA-FCB8-01D5-E82D930B5629}"/>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5" name="Footer Placeholder 4">
            <a:extLst>
              <a:ext uri="{FF2B5EF4-FFF2-40B4-BE49-F238E27FC236}">
                <a16:creationId xmlns:a16="http://schemas.microsoft.com/office/drawing/2014/main" id="{3A5CF7C5-EFE1-4FD4-BEFF-79321B9850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B4690B-EAA6-4585-52EB-D50F88189485}"/>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2584862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6F458-13BF-F1A2-392E-276B72BD5A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C1BE0F-4D1C-D28F-76B8-B856273344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F2F02E0-98BC-281E-C60B-F4BFD3AF34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1EFE39A-13AA-FEE5-741B-77522371DB3C}"/>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6" name="Footer Placeholder 5">
            <a:extLst>
              <a:ext uri="{FF2B5EF4-FFF2-40B4-BE49-F238E27FC236}">
                <a16:creationId xmlns:a16="http://schemas.microsoft.com/office/drawing/2014/main" id="{04E5842D-B716-8F2C-F5B0-279D8F0875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173DD3-6FEF-E17C-C42D-CF8F576C575C}"/>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2033057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F1F44-09AD-F42D-04A4-7F9798DC58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737444-C697-DB4E-09C3-E50BE92170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E37D9F-2F1C-26EA-850E-0C358CE099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23F047-FA87-1A8E-D8F2-5C4D49E909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C01DE-A44B-B694-10DB-EF4A14E8B7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5C7BC38-72F1-41F1-56EF-6B976988E05D}"/>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8" name="Footer Placeholder 7">
            <a:extLst>
              <a:ext uri="{FF2B5EF4-FFF2-40B4-BE49-F238E27FC236}">
                <a16:creationId xmlns:a16="http://schemas.microsoft.com/office/drawing/2014/main" id="{836B4E96-2A43-5381-E7AB-3D54AFD64E5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08707EF-3C4E-0E97-D2E6-902355667440}"/>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1201695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DD3E8-2AC8-61F4-2DF9-AD64D1917A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28F8C4-6A26-967E-60B5-6F7FB84ED550}"/>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4" name="Footer Placeholder 3">
            <a:extLst>
              <a:ext uri="{FF2B5EF4-FFF2-40B4-BE49-F238E27FC236}">
                <a16:creationId xmlns:a16="http://schemas.microsoft.com/office/drawing/2014/main" id="{54129AFB-A155-7618-A63C-3BD212FF8F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74548DC-4DAC-FF5C-0E4A-DB0A929D787F}"/>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1716267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11E0AB-9D32-13B4-D51D-A7EF17211133}"/>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3" name="Footer Placeholder 2">
            <a:extLst>
              <a:ext uri="{FF2B5EF4-FFF2-40B4-BE49-F238E27FC236}">
                <a16:creationId xmlns:a16="http://schemas.microsoft.com/office/drawing/2014/main" id="{746C4492-AD1E-413B-D9D2-242794A903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744CC3-599C-ECD5-CD56-BC79BF157516}"/>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2488407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710EF-0775-99B4-ACEB-53E0AE898B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D94924-47FB-7D56-1441-F0AC081889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0E3F890-8670-16A6-B765-DDDDB2FDFE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4A970A-E69D-1F21-5D9A-E53F539C0CE7}"/>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6" name="Footer Placeholder 5">
            <a:extLst>
              <a:ext uri="{FF2B5EF4-FFF2-40B4-BE49-F238E27FC236}">
                <a16:creationId xmlns:a16="http://schemas.microsoft.com/office/drawing/2014/main" id="{EC579B14-199C-123E-DBDD-FCB1A3A036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AC19A8-0A60-8C29-36ED-94A3F2858374}"/>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766435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9040-ACCF-6D7C-CE83-060EB175A4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1AE41F-60C1-0268-ABA6-A239DA0DC1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B3A3CC-2D59-2801-EAA8-20A10FA99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314438-4D3D-EF01-E242-ED3B377CBBE1}"/>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6" name="Footer Placeholder 5">
            <a:extLst>
              <a:ext uri="{FF2B5EF4-FFF2-40B4-BE49-F238E27FC236}">
                <a16:creationId xmlns:a16="http://schemas.microsoft.com/office/drawing/2014/main" id="{735EFCD0-E3F3-340D-2AE0-3F80C71413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737EC7-140C-C045-BD94-BD65979AE577}"/>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340227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5B620-209E-4247-B88E-2C6550D31F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EB8676-99B7-DE54-9692-9FAF50EA59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F7387A-FEAD-1166-2DFA-4212035E9A48}"/>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5" name="Footer Placeholder 4">
            <a:extLst>
              <a:ext uri="{FF2B5EF4-FFF2-40B4-BE49-F238E27FC236}">
                <a16:creationId xmlns:a16="http://schemas.microsoft.com/office/drawing/2014/main" id="{FBD75609-B240-BC31-6844-81BD38A02C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3119B7-E289-EDB1-C234-F5A9AADB8ECA}"/>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2206096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C1173E-5A78-FC0D-EB8A-9738FFA8AD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C7ECE8-6C3A-AD0E-13E3-84B2503762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1D58BE-1CFB-1E56-493A-9D6F73638D14}"/>
              </a:ext>
            </a:extLst>
          </p:cNvPr>
          <p:cNvSpPr>
            <a:spLocks noGrp="1"/>
          </p:cNvSpPr>
          <p:nvPr>
            <p:ph type="dt" sz="half" idx="10"/>
          </p:nvPr>
        </p:nvSpPr>
        <p:spPr/>
        <p:txBody>
          <a:bodyPr/>
          <a:lstStyle/>
          <a:p>
            <a:fld id="{0337B42A-08B4-4FFF-91AF-DE6727522F8B}" type="datetimeFigureOut">
              <a:rPr lang="en-IN" smtClean="0"/>
              <a:t>18-08-2026</a:t>
            </a:fld>
            <a:endParaRPr lang="en-IN"/>
          </a:p>
        </p:txBody>
      </p:sp>
      <p:sp>
        <p:nvSpPr>
          <p:cNvPr id="5" name="Footer Placeholder 4">
            <a:extLst>
              <a:ext uri="{FF2B5EF4-FFF2-40B4-BE49-F238E27FC236}">
                <a16:creationId xmlns:a16="http://schemas.microsoft.com/office/drawing/2014/main" id="{9876D94D-33C0-57A3-50CF-EA33D7EE95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F9C7BA-848E-4950-F17F-C351FDBC03D9}"/>
              </a:ext>
            </a:extLst>
          </p:cNvPr>
          <p:cNvSpPr>
            <a:spLocks noGrp="1"/>
          </p:cNvSpPr>
          <p:nvPr>
            <p:ph type="sldNum" sz="quarter" idx="12"/>
          </p:nvPr>
        </p:nvSpPr>
        <p:spPr/>
        <p:txBody>
          <a:bodyPr/>
          <a:lstStyle/>
          <a:p>
            <a:fld id="{E1A259FB-A088-45D6-8765-0BA40D64382D}" type="slidenum">
              <a:rPr lang="en-IN" smtClean="0"/>
              <a:t>‹#›</a:t>
            </a:fld>
            <a:endParaRPr lang="en-IN"/>
          </a:p>
        </p:txBody>
      </p:sp>
    </p:spTree>
    <p:extLst>
      <p:ext uri="{BB962C8B-B14F-4D97-AF65-F5344CB8AC3E}">
        <p14:creationId xmlns:p14="http://schemas.microsoft.com/office/powerpoint/2010/main" val="625285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38E9BB-1DB2-496C-EC8F-579837B3AC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CDF6C9-3276-35A5-341F-FDEB8A1301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DE72AA-4591-ACCB-FD98-8049794AA9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37B42A-08B4-4FFF-91AF-DE6727522F8B}" type="datetimeFigureOut">
              <a:rPr lang="en-IN" smtClean="0"/>
              <a:t>18-08-2026</a:t>
            </a:fld>
            <a:endParaRPr lang="en-IN"/>
          </a:p>
        </p:txBody>
      </p:sp>
      <p:sp>
        <p:nvSpPr>
          <p:cNvPr id="5" name="Footer Placeholder 4">
            <a:extLst>
              <a:ext uri="{FF2B5EF4-FFF2-40B4-BE49-F238E27FC236}">
                <a16:creationId xmlns:a16="http://schemas.microsoft.com/office/drawing/2014/main" id="{F54DDC01-F889-69BD-FFD4-69DBDA007B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AF6CA95-600F-7643-5EF9-0593E66B77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A259FB-A088-45D6-8765-0BA40D64382D}" type="slidenum">
              <a:rPr lang="en-IN" smtClean="0"/>
              <a:t>‹#›</a:t>
            </a:fld>
            <a:endParaRPr lang="en-IN"/>
          </a:p>
        </p:txBody>
      </p:sp>
    </p:spTree>
    <p:extLst>
      <p:ext uri="{BB962C8B-B14F-4D97-AF65-F5344CB8AC3E}">
        <p14:creationId xmlns:p14="http://schemas.microsoft.com/office/powerpoint/2010/main" val="890688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96AFA-012A-CF8A-B3C2-AA15B35CCEB5}"/>
              </a:ext>
            </a:extLst>
          </p:cNvPr>
          <p:cNvSpPr>
            <a:spLocks noGrp="1"/>
          </p:cNvSpPr>
          <p:nvPr>
            <p:ph type="ctrTitle"/>
          </p:nvPr>
        </p:nvSpPr>
        <p:spPr>
          <a:xfrm>
            <a:off x="1524000" y="717755"/>
            <a:ext cx="9144000" cy="2015613"/>
          </a:xfrm>
        </p:spPr>
        <p:txBody>
          <a:bodyPr/>
          <a:lstStyle/>
          <a:p>
            <a:r>
              <a:rPr lang="en-IN" u="sng" dirty="0"/>
              <a:t>AI-Powered Product Feature Prioritization Framework</a:t>
            </a:r>
          </a:p>
        </p:txBody>
      </p:sp>
      <p:sp>
        <p:nvSpPr>
          <p:cNvPr id="3" name="Subtitle 2">
            <a:extLst>
              <a:ext uri="{FF2B5EF4-FFF2-40B4-BE49-F238E27FC236}">
                <a16:creationId xmlns:a16="http://schemas.microsoft.com/office/drawing/2014/main" id="{2F66E390-DB6C-B927-2A74-026AC9433924}"/>
              </a:ext>
            </a:extLst>
          </p:cNvPr>
          <p:cNvSpPr>
            <a:spLocks noGrp="1"/>
          </p:cNvSpPr>
          <p:nvPr>
            <p:ph type="subTitle" idx="1"/>
          </p:nvPr>
        </p:nvSpPr>
        <p:spPr/>
        <p:txBody>
          <a:bodyPr/>
          <a:lstStyle/>
          <a:p>
            <a:r>
              <a:rPr lang="en-US" b="1" dirty="0"/>
              <a:t>Tools- Excel | AI-assisted Analysis | Interactive HTML Dashboard</a:t>
            </a:r>
            <a:endParaRPr lang="en-IN" b="1" dirty="0"/>
          </a:p>
          <a:p>
            <a:r>
              <a:rPr lang="en-IN" b="1" dirty="0"/>
              <a:t>Name-Apeksha Ashok Bhoir </a:t>
            </a:r>
          </a:p>
          <a:p>
            <a:r>
              <a:rPr lang="en-IN" b="1" dirty="0"/>
              <a:t>Education- MBA in Business Analytics</a:t>
            </a:r>
          </a:p>
        </p:txBody>
      </p:sp>
    </p:spTree>
    <p:extLst>
      <p:ext uri="{BB962C8B-B14F-4D97-AF65-F5344CB8AC3E}">
        <p14:creationId xmlns:p14="http://schemas.microsoft.com/office/powerpoint/2010/main" val="80076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60B83-3132-6908-76B1-F95CB2FC46A6}"/>
              </a:ext>
            </a:extLst>
          </p:cNvPr>
          <p:cNvSpPr>
            <a:spLocks noGrp="1"/>
          </p:cNvSpPr>
          <p:nvPr>
            <p:ph type="title"/>
          </p:nvPr>
        </p:nvSpPr>
        <p:spPr/>
        <p:txBody>
          <a:bodyPr/>
          <a:lstStyle/>
          <a:p>
            <a:r>
              <a:rPr lang="en-IN" dirty="0"/>
              <a:t>Business Problem</a:t>
            </a:r>
          </a:p>
        </p:txBody>
      </p:sp>
      <p:sp>
        <p:nvSpPr>
          <p:cNvPr id="3" name="Content Placeholder 2">
            <a:extLst>
              <a:ext uri="{FF2B5EF4-FFF2-40B4-BE49-F238E27FC236}">
                <a16:creationId xmlns:a16="http://schemas.microsoft.com/office/drawing/2014/main" id="{ADA872D4-0264-41BA-0E8A-93F52A0D8519}"/>
              </a:ext>
            </a:extLst>
          </p:cNvPr>
          <p:cNvSpPr>
            <a:spLocks noGrp="1"/>
          </p:cNvSpPr>
          <p:nvPr>
            <p:ph idx="1"/>
          </p:nvPr>
        </p:nvSpPr>
        <p:spPr/>
        <p:txBody>
          <a:bodyPr/>
          <a:lstStyle/>
          <a:p>
            <a:pPr marL="0" indent="0" algn="just">
              <a:buNone/>
            </a:pPr>
            <a:r>
              <a:rPr lang="en-IN" dirty="0"/>
              <a:t>SaaS and technology companies receive numerous feature requests from customers, sales teams, support teams, product teams and management. Since engineering resources are limited, companies cannot build every requested feature. This project develops an AI-assisted feature prioritization framework to evaluate customer value, business value, development effort, technical risk and strategic alignment and convert these insights into product decisions and roadmap priorities.</a:t>
            </a:r>
          </a:p>
        </p:txBody>
      </p:sp>
    </p:spTree>
    <p:extLst>
      <p:ext uri="{BB962C8B-B14F-4D97-AF65-F5344CB8AC3E}">
        <p14:creationId xmlns:p14="http://schemas.microsoft.com/office/powerpoint/2010/main" val="1053515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D8D25-EF06-239C-9C5C-3237A59CFA68}"/>
              </a:ext>
            </a:extLst>
          </p:cNvPr>
          <p:cNvSpPr>
            <a:spLocks noGrp="1"/>
          </p:cNvSpPr>
          <p:nvPr>
            <p:ph type="title"/>
          </p:nvPr>
        </p:nvSpPr>
        <p:spPr/>
        <p:txBody>
          <a:bodyPr/>
          <a:lstStyle/>
          <a:p>
            <a:r>
              <a:rPr lang="en-IN" b="1" dirty="0"/>
              <a:t>Objective</a:t>
            </a:r>
            <a:endParaRPr lang="en-IN" dirty="0"/>
          </a:p>
        </p:txBody>
      </p:sp>
      <p:sp>
        <p:nvSpPr>
          <p:cNvPr id="3" name="Content Placeholder 2">
            <a:extLst>
              <a:ext uri="{FF2B5EF4-FFF2-40B4-BE49-F238E27FC236}">
                <a16:creationId xmlns:a16="http://schemas.microsoft.com/office/drawing/2014/main" id="{39F71EC2-91FD-4712-1FE1-39C524AC69CF}"/>
              </a:ext>
            </a:extLst>
          </p:cNvPr>
          <p:cNvSpPr>
            <a:spLocks noGrp="1"/>
          </p:cNvSpPr>
          <p:nvPr>
            <p:ph idx="1"/>
          </p:nvPr>
        </p:nvSpPr>
        <p:spPr>
          <a:xfrm>
            <a:off x="757084" y="1337187"/>
            <a:ext cx="10596716" cy="4839776"/>
          </a:xfrm>
        </p:spPr>
        <p:txBody>
          <a:bodyPr>
            <a:normAutofit lnSpcReduction="10000"/>
          </a:bodyPr>
          <a:lstStyle/>
          <a:p>
            <a:pPr marL="0" indent="0">
              <a:buNone/>
            </a:pPr>
            <a:endParaRPr lang="en-IN" b="1" dirty="0"/>
          </a:p>
          <a:p>
            <a:pPr lvl="0"/>
            <a:r>
              <a:rPr lang="en-IN" dirty="0" err="1"/>
              <a:t>Analyze</a:t>
            </a:r>
            <a:r>
              <a:rPr lang="en-IN" dirty="0"/>
              <a:t> customer feedback </a:t>
            </a:r>
          </a:p>
          <a:p>
            <a:pPr lvl="0"/>
            <a:r>
              <a:rPr lang="en-IN" dirty="0"/>
              <a:t>Identify feature demand </a:t>
            </a:r>
          </a:p>
          <a:p>
            <a:pPr lvl="0"/>
            <a:r>
              <a:rPr lang="en-IN" dirty="0"/>
              <a:t>Evaluate customer impact </a:t>
            </a:r>
          </a:p>
          <a:p>
            <a:pPr lvl="0"/>
            <a:r>
              <a:rPr lang="en-IN" dirty="0"/>
              <a:t>Estimate business value </a:t>
            </a:r>
          </a:p>
          <a:p>
            <a:pPr lvl="0"/>
            <a:r>
              <a:rPr lang="en-IN" dirty="0" err="1"/>
              <a:t>Analyze</a:t>
            </a:r>
            <a:r>
              <a:rPr lang="en-IN" dirty="0"/>
              <a:t> development effort and risk </a:t>
            </a:r>
          </a:p>
          <a:p>
            <a:pPr lvl="0"/>
            <a:r>
              <a:rPr lang="en-IN" dirty="0"/>
              <a:t>Apply RICE, </a:t>
            </a:r>
            <a:r>
              <a:rPr lang="en-IN" dirty="0" err="1"/>
              <a:t>MoSCoW</a:t>
            </a:r>
            <a:r>
              <a:rPr lang="en-IN" dirty="0"/>
              <a:t> and Kano </a:t>
            </a:r>
          </a:p>
          <a:p>
            <a:pPr lvl="0"/>
            <a:r>
              <a:rPr lang="en-IN" dirty="0"/>
              <a:t>Generate AI-assisted recommendations </a:t>
            </a:r>
          </a:p>
          <a:p>
            <a:pPr lvl="0"/>
            <a:r>
              <a:rPr lang="en-IN" dirty="0"/>
              <a:t>Apply Product Manager judgment </a:t>
            </a:r>
          </a:p>
          <a:p>
            <a:pPr lvl="0"/>
            <a:r>
              <a:rPr lang="en-IN" dirty="0"/>
              <a:t>Create a product roadmap </a:t>
            </a:r>
          </a:p>
          <a:p>
            <a:endParaRPr lang="en-IN" dirty="0"/>
          </a:p>
        </p:txBody>
      </p:sp>
    </p:spTree>
    <p:extLst>
      <p:ext uri="{BB962C8B-B14F-4D97-AF65-F5344CB8AC3E}">
        <p14:creationId xmlns:p14="http://schemas.microsoft.com/office/powerpoint/2010/main" val="72310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61968-4AB1-797A-D66B-02B6E8A0383B}"/>
              </a:ext>
            </a:extLst>
          </p:cNvPr>
          <p:cNvSpPr>
            <a:spLocks noGrp="1"/>
          </p:cNvSpPr>
          <p:nvPr>
            <p:ph type="title"/>
          </p:nvPr>
        </p:nvSpPr>
        <p:spPr/>
        <p:txBody>
          <a:bodyPr/>
          <a:lstStyle/>
          <a:p>
            <a:r>
              <a:rPr lang="en-IN" b="1" dirty="0"/>
              <a:t>Data</a:t>
            </a:r>
            <a:br>
              <a:rPr lang="en-IN" b="1" dirty="0"/>
            </a:br>
            <a:endParaRPr lang="en-IN" dirty="0"/>
          </a:p>
        </p:txBody>
      </p:sp>
      <p:sp>
        <p:nvSpPr>
          <p:cNvPr id="3" name="Content Placeholder 2">
            <a:extLst>
              <a:ext uri="{FF2B5EF4-FFF2-40B4-BE49-F238E27FC236}">
                <a16:creationId xmlns:a16="http://schemas.microsoft.com/office/drawing/2014/main" id="{012A4CA6-6EEB-48B2-DF5A-E27D467D05A8}"/>
              </a:ext>
            </a:extLst>
          </p:cNvPr>
          <p:cNvSpPr>
            <a:spLocks noGrp="1"/>
          </p:cNvSpPr>
          <p:nvPr>
            <p:ph idx="1"/>
          </p:nvPr>
        </p:nvSpPr>
        <p:spPr>
          <a:xfrm>
            <a:off x="619432" y="796413"/>
            <a:ext cx="10734368" cy="5528034"/>
          </a:xfrm>
        </p:spPr>
        <p:txBody>
          <a:bodyPr>
            <a:normAutofit fontScale="92500" lnSpcReduction="10000"/>
          </a:bodyPr>
          <a:lstStyle/>
          <a:p>
            <a:pPr marL="0" indent="0">
              <a:buNone/>
            </a:pPr>
            <a:endParaRPr lang="en-IN" dirty="0"/>
          </a:p>
          <a:p>
            <a:pPr marL="0" indent="0">
              <a:buNone/>
            </a:pPr>
            <a:r>
              <a:rPr lang="en-IN" dirty="0"/>
              <a:t>The project uses a synthetic SaaS product feature-request dataset containing 100 feature requests and customer feedback from multiple sources.</a:t>
            </a:r>
          </a:p>
          <a:p>
            <a:pPr marL="0" indent="0">
              <a:buNone/>
            </a:pPr>
            <a:r>
              <a:rPr lang="en-IN" dirty="0"/>
              <a:t>Sources:-</a:t>
            </a:r>
          </a:p>
          <a:p>
            <a:pPr lvl="0"/>
            <a:r>
              <a:rPr lang="en-IN" dirty="0"/>
              <a:t>Customers </a:t>
            </a:r>
          </a:p>
          <a:p>
            <a:pPr lvl="0"/>
            <a:r>
              <a:rPr lang="en-IN" dirty="0"/>
              <a:t>Customer Support </a:t>
            </a:r>
          </a:p>
          <a:p>
            <a:pPr lvl="0"/>
            <a:r>
              <a:rPr lang="en-IN" dirty="0"/>
              <a:t>Sales </a:t>
            </a:r>
          </a:p>
          <a:p>
            <a:pPr lvl="0"/>
            <a:r>
              <a:rPr lang="en-IN" dirty="0"/>
              <a:t>Product Team </a:t>
            </a:r>
          </a:p>
          <a:p>
            <a:pPr lvl="0"/>
            <a:r>
              <a:rPr lang="en-IN" dirty="0"/>
              <a:t>Engineering </a:t>
            </a:r>
          </a:p>
          <a:p>
            <a:pPr lvl="0"/>
            <a:r>
              <a:rPr lang="en-IN" dirty="0"/>
              <a:t>Management </a:t>
            </a:r>
          </a:p>
          <a:p>
            <a:pPr lvl="0"/>
            <a:r>
              <a:rPr lang="en-IN" dirty="0"/>
              <a:t>User Reviews </a:t>
            </a:r>
          </a:p>
          <a:p>
            <a:pPr lvl="0"/>
            <a:r>
              <a:rPr lang="en-IN" dirty="0"/>
              <a:t>Competitor Research </a:t>
            </a:r>
          </a:p>
          <a:p>
            <a:endParaRPr lang="en-IN" dirty="0"/>
          </a:p>
        </p:txBody>
      </p:sp>
    </p:spTree>
    <p:extLst>
      <p:ext uri="{BB962C8B-B14F-4D97-AF65-F5344CB8AC3E}">
        <p14:creationId xmlns:p14="http://schemas.microsoft.com/office/powerpoint/2010/main" val="4028882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E21E-BBFF-A7F0-46EB-CD77954C4817}"/>
              </a:ext>
            </a:extLst>
          </p:cNvPr>
          <p:cNvSpPr>
            <a:spLocks noGrp="1"/>
          </p:cNvSpPr>
          <p:nvPr>
            <p:ph type="title"/>
          </p:nvPr>
        </p:nvSpPr>
        <p:spPr>
          <a:xfrm>
            <a:off x="589935" y="226143"/>
            <a:ext cx="10763865" cy="1464546"/>
          </a:xfrm>
        </p:spPr>
        <p:txBody>
          <a:bodyPr/>
          <a:lstStyle/>
          <a:p>
            <a:r>
              <a:rPr lang="en-IN" dirty="0"/>
              <a:t>Methodology</a:t>
            </a:r>
          </a:p>
        </p:txBody>
      </p:sp>
      <p:sp>
        <p:nvSpPr>
          <p:cNvPr id="3" name="Content Placeholder 2">
            <a:extLst>
              <a:ext uri="{FF2B5EF4-FFF2-40B4-BE49-F238E27FC236}">
                <a16:creationId xmlns:a16="http://schemas.microsoft.com/office/drawing/2014/main" id="{4FD887B7-C808-85FA-6F4A-AB866C1645BD}"/>
              </a:ext>
            </a:extLst>
          </p:cNvPr>
          <p:cNvSpPr>
            <a:spLocks noGrp="1"/>
          </p:cNvSpPr>
          <p:nvPr>
            <p:ph idx="1"/>
          </p:nvPr>
        </p:nvSpPr>
        <p:spPr>
          <a:xfrm>
            <a:off x="589935" y="1504335"/>
            <a:ext cx="10763865" cy="4672628"/>
          </a:xfrm>
        </p:spPr>
        <p:txBody>
          <a:bodyPr>
            <a:normAutofit fontScale="47500" lnSpcReduction="20000"/>
          </a:bodyPr>
          <a:lstStyle/>
          <a:p>
            <a:pPr marL="0" indent="0" algn="ctr">
              <a:buNone/>
            </a:pPr>
            <a:r>
              <a:rPr lang="en-IN" b="1" dirty="0"/>
              <a:t>Customer Feedback</a:t>
            </a:r>
            <a:endParaRPr lang="en-IN" dirty="0"/>
          </a:p>
          <a:p>
            <a:pPr marL="0" indent="0" algn="ctr">
              <a:buNone/>
            </a:pPr>
            <a:r>
              <a:rPr lang="en-IN" dirty="0"/>
              <a:t>↓</a:t>
            </a:r>
          </a:p>
          <a:p>
            <a:pPr marL="0" indent="0" algn="ctr">
              <a:buNone/>
            </a:pPr>
            <a:r>
              <a:rPr lang="en-IN" b="1" dirty="0"/>
              <a:t>Sentiment &amp; Pain Analysis</a:t>
            </a:r>
            <a:endParaRPr lang="en-IN" dirty="0"/>
          </a:p>
          <a:p>
            <a:pPr marL="0" indent="0" algn="ctr">
              <a:buNone/>
            </a:pPr>
            <a:r>
              <a:rPr lang="en-IN" dirty="0"/>
              <a:t>↓</a:t>
            </a:r>
          </a:p>
          <a:p>
            <a:pPr marL="0" indent="0" algn="ctr">
              <a:buNone/>
            </a:pPr>
            <a:r>
              <a:rPr lang="en-IN" b="1" dirty="0"/>
              <a:t>Feature Demand</a:t>
            </a:r>
            <a:endParaRPr lang="en-IN" dirty="0"/>
          </a:p>
          <a:p>
            <a:pPr marL="0" indent="0" algn="ctr">
              <a:buNone/>
            </a:pPr>
            <a:r>
              <a:rPr lang="en-IN" dirty="0"/>
              <a:t>↓</a:t>
            </a:r>
          </a:p>
          <a:p>
            <a:pPr marL="0" indent="0" algn="ctr">
              <a:buNone/>
            </a:pPr>
            <a:r>
              <a:rPr lang="en-IN" b="1" dirty="0"/>
              <a:t>Business Value</a:t>
            </a:r>
            <a:endParaRPr lang="en-IN" dirty="0"/>
          </a:p>
          <a:p>
            <a:pPr marL="0" indent="0" algn="ctr">
              <a:buNone/>
            </a:pPr>
            <a:r>
              <a:rPr lang="en-IN" dirty="0"/>
              <a:t>↓</a:t>
            </a:r>
          </a:p>
          <a:p>
            <a:pPr marL="0" indent="0" algn="ctr">
              <a:buNone/>
            </a:pPr>
            <a:r>
              <a:rPr lang="en-IN" b="1" dirty="0"/>
              <a:t>Effort &amp; Risk</a:t>
            </a:r>
            <a:endParaRPr lang="en-IN" dirty="0"/>
          </a:p>
          <a:p>
            <a:pPr marL="0" indent="0" algn="ctr">
              <a:buNone/>
            </a:pPr>
            <a:r>
              <a:rPr lang="en-IN" dirty="0"/>
              <a:t>↓</a:t>
            </a:r>
          </a:p>
          <a:p>
            <a:pPr marL="0" indent="0" algn="ctr">
              <a:buNone/>
            </a:pPr>
            <a:r>
              <a:rPr lang="en-IN" b="1" dirty="0"/>
              <a:t>RICE + </a:t>
            </a:r>
            <a:r>
              <a:rPr lang="en-IN" b="1" dirty="0" err="1"/>
              <a:t>MoSCoW</a:t>
            </a:r>
            <a:r>
              <a:rPr lang="en-IN" b="1" dirty="0"/>
              <a:t> + Kano</a:t>
            </a:r>
            <a:endParaRPr lang="en-IN" dirty="0"/>
          </a:p>
          <a:p>
            <a:pPr marL="0" indent="0" algn="ctr">
              <a:buNone/>
            </a:pPr>
            <a:r>
              <a:rPr lang="en-IN" dirty="0"/>
              <a:t>↓</a:t>
            </a:r>
          </a:p>
          <a:p>
            <a:pPr marL="0" indent="0" algn="ctr">
              <a:buNone/>
            </a:pPr>
            <a:r>
              <a:rPr lang="en-IN" b="1" dirty="0"/>
              <a:t>AI Recommendation</a:t>
            </a:r>
            <a:endParaRPr lang="en-IN" dirty="0"/>
          </a:p>
          <a:p>
            <a:pPr marL="0" indent="0" algn="ctr">
              <a:buNone/>
            </a:pPr>
            <a:r>
              <a:rPr lang="en-IN" dirty="0"/>
              <a:t>↓</a:t>
            </a:r>
          </a:p>
          <a:p>
            <a:pPr marL="0" indent="0" algn="ctr">
              <a:buNone/>
            </a:pPr>
            <a:r>
              <a:rPr lang="en-IN" b="1" dirty="0"/>
              <a:t>Product Manager Decision</a:t>
            </a:r>
            <a:endParaRPr lang="en-IN" dirty="0"/>
          </a:p>
          <a:p>
            <a:pPr marL="0" indent="0" algn="ctr">
              <a:buNone/>
            </a:pPr>
            <a:r>
              <a:rPr lang="en-IN" dirty="0"/>
              <a:t>↓</a:t>
            </a:r>
          </a:p>
          <a:p>
            <a:pPr marL="0" indent="0" algn="ctr">
              <a:buNone/>
            </a:pPr>
            <a:r>
              <a:rPr lang="en-IN" b="1" dirty="0"/>
              <a:t>Roadmap</a:t>
            </a:r>
            <a:endParaRPr lang="en-IN" dirty="0"/>
          </a:p>
          <a:p>
            <a:pPr marL="0" indent="0">
              <a:buNone/>
            </a:pPr>
            <a:endParaRPr lang="en-IN" dirty="0"/>
          </a:p>
        </p:txBody>
      </p:sp>
    </p:spTree>
    <p:extLst>
      <p:ext uri="{BB962C8B-B14F-4D97-AF65-F5344CB8AC3E}">
        <p14:creationId xmlns:p14="http://schemas.microsoft.com/office/powerpoint/2010/main" val="504228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A0901-9897-383E-05E2-3B4CD4670E89}"/>
              </a:ext>
            </a:extLst>
          </p:cNvPr>
          <p:cNvSpPr>
            <a:spLocks noGrp="1"/>
          </p:cNvSpPr>
          <p:nvPr>
            <p:ph type="title"/>
          </p:nvPr>
        </p:nvSpPr>
        <p:spPr/>
        <p:txBody>
          <a:bodyPr/>
          <a:lstStyle/>
          <a:p>
            <a:r>
              <a:rPr lang="en-IN" dirty="0"/>
              <a:t>AI Methodology</a:t>
            </a:r>
          </a:p>
        </p:txBody>
      </p:sp>
      <p:sp>
        <p:nvSpPr>
          <p:cNvPr id="3" name="Content Placeholder 2">
            <a:extLst>
              <a:ext uri="{FF2B5EF4-FFF2-40B4-BE49-F238E27FC236}">
                <a16:creationId xmlns:a16="http://schemas.microsoft.com/office/drawing/2014/main" id="{3A697B84-1BD4-1FC4-E3C3-41D3FE58719E}"/>
              </a:ext>
            </a:extLst>
          </p:cNvPr>
          <p:cNvSpPr>
            <a:spLocks noGrp="1"/>
          </p:cNvSpPr>
          <p:nvPr>
            <p:ph idx="1"/>
          </p:nvPr>
        </p:nvSpPr>
        <p:spPr/>
        <p:txBody>
          <a:bodyPr/>
          <a:lstStyle/>
          <a:p>
            <a:pPr marL="0" indent="0" algn="just">
              <a:buNone/>
            </a:pPr>
            <a:r>
              <a:rPr lang="en-IN" dirty="0"/>
              <a:t>AI was used as a decision-support mechanism rather than an autonomous decision-maker. AI-assisted analysis was used to identify customer sentiment, recurring themes, demand signals and initial feature priority recommendations. Final prioritization was validated using structured prioritization frameworks and Product Manager judgment.</a:t>
            </a:r>
          </a:p>
        </p:txBody>
      </p:sp>
    </p:spTree>
    <p:extLst>
      <p:ext uri="{BB962C8B-B14F-4D97-AF65-F5344CB8AC3E}">
        <p14:creationId xmlns:p14="http://schemas.microsoft.com/office/powerpoint/2010/main" val="1070913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A4D94-75DC-EB95-AF62-C287B9A952F9}"/>
              </a:ext>
            </a:extLst>
          </p:cNvPr>
          <p:cNvSpPr>
            <a:spLocks noGrp="1"/>
          </p:cNvSpPr>
          <p:nvPr>
            <p:ph type="title"/>
          </p:nvPr>
        </p:nvSpPr>
        <p:spPr/>
        <p:txBody>
          <a:bodyPr/>
          <a:lstStyle/>
          <a:p>
            <a:r>
              <a:rPr lang="en-IN" dirty="0"/>
              <a:t>Dashboard-</a:t>
            </a:r>
          </a:p>
        </p:txBody>
      </p:sp>
      <p:pic>
        <p:nvPicPr>
          <p:cNvPr id="5" name="Content Placeholder 4">
            <a:extLst>
              <a:ext uri="{FF2B5EF4-FFF2-40B4-BE49-F238E27FC236}">
                <a16:creationId xmlns:a16="http://schemas.microsoft.com/office/drawing/2014/main" id="{A84BA962-481C-44A3-2A4D-5BFCFCD67A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78710" y="84960"/>
            <a:ext cx="6440128" cy="6519957"/>
          </a:xfrm>
          <a:prstGeom prst="rect">
            <a:avLst/>
          </a:prstGeom>
        </p:spPr>
      </p:pic>
    </p:spTree>
    <p:extLst>
      <p:ext uri="{BB962C8B-B14F-4D97-AF65-F5344CB8AC3E}">
        <p14:creationId xmlns:p14="http://schemas.microsoft.com/office/powerpoint/2010/main" val="3785149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7F83-FF5F-813A-C41E-185A3D807CBF}"/>
              </a:ext>
            </a:extLst>
          </p:cNvPr>
          <p:cNvSpPr>
            <a:spLocks noGrp="1"/>
          </p:cNvSpPr>
          <p:nvPr>
            <p:ph type="title"/>
          </p:nvPr>
        </p:nvSpPr>
        <p:spPr/>
        <p:txBody>
          <a:bodyPr/>
          <a:lstStyle/>
          <a:p>
            <a:r>
              <a:rPr lang="en-IN" b="1" dirty="0"/>
              <a:t>Key Insights</a:t>
            </a:r>
            <a:br>
              <a:rPr lang="en-IN" b="1" dirty="0"/>
            </a:br>
            <a:endParaRPr lang="en-IN" dirty="0"/>
          </a:p>
        </p:txBody>
      </p:sp>
      <p:sp>
        <p:nvSpPr>
          <p:cNvPr id="3" name="Content Placeholder 2">
            <a:extLst>
              <a:ext uri="{FF2B5EF4-FFF2-40B4-BE49-F238E27FC236}">
                <a16:creationId xmlns:a16="http://schemas.microsoft.com/office/drawing/2014/main" id="{8E03CBBA-B2F7-0152-6718-FD2F9321BA9C}"/>
              </a:ext>
            </a:extLst>
          </p:cNvPr>
          <p:cNvSpPr>
            <a:spLocks noGrp="1"/>
          </p:cNvSpPr>
          <p:nvPr>
            <p:ph idx="1"/>
          </p:nvPr>
        </p:nvSpPr>
        <p:spPr>
          <a:xfrm>
            <a:off x="838200" y="1189703"/>
            <a:ext cx="10515600" cy="4987260"/>
          </a:xfrm>
        </p:spPr>
        <p:txBody>
          <a:bodyPr>
            <a:normAutofit lnSpcReduction="10000"/>
          </a:bodyPr>
          <a:lstStyle/>
          <a:p>
            <a:pPr marL="0" indent="0" algn="just">
              <a:buNone/>
            </a:pPr>
            <a:r>
              <a:rPr lang="en-IN" dirty="0"/>
              <a:t>Example:</a:t>
            </a:r>
          </a:p>
          <a:p>
            <a:pPr marL="514350" lvl="0" indent="-514350" algn="just">
              <a:buFont typeface="+mj-lt"/>
              <a:buAutoNum type="arabicPeriod"/>
            </a:pPr>
            <a:r>
              <a:rPr lang="en-IN" dirty="0"/>
              <a:t>Features addressing significant customer pain points receive stronger prioritization. </a:t>
            </a:r>
          </a:p>
          <a:p>
            <a:pPr marL="514350" lvl="0" indent="-514350" algn="just">
              <a:buFont typeface="+mj-lt"/>
              <a:buAutoNum type="arabicPeriod"/>
            </a:pPr>
            <a:r>
              <a:rPr lang="en-IN" dirty="0"/>
              <a:t>High customer demand alone does not guarantee high priority. </a:t>
            </a:r>
          </a:p>
          <a:p>
            <a:pPr marL="514350" lvl="0" indent="-514350" algn="just">
              <a:buFont typeface="+mj-lt"/>
              <a:buAutoNum type="arabicPeriod"/>
            </a:pPr>
            <a:r>
              <a:rPr lang="en-IN" dirty="0"/>
              <a:t>Development effort and technical risk can reduce feature priority. </a:t>
            </a:r>
          </a:p>
          <a:p>
            <a:pPr marL="514350" lvl="0" indent="-514350" algn="just">
              <a:buFont typeface="+mj-lt"/>
              <a:buAutoNum type="arabicPeriod"/>
            </a:pPr>
            <a:r>
              <a:rPr lang="en-IN" dirty="0"/>
              <a:t>Enterprise requirements such as security and integrations can support expansion opportunities. </a:t>
            </a:r>
          </a:p>
          <a:p>
            <a:pPr marL="514350" lvl="0" indent="-514350" algn="just">
              <a:buFont typeface="+mj-lt"/>
              <a:buAutoNum type="arabicPeriod"/>
            </a:pPr>
            <a:r>
              <a:rPr lang="en-IN" dirty="0"/>
              <a:t>AI recommendations help Product Managers </a:t>
            </a:r>
            <a:r>
              <a:rPr lang="en-IN" dirty="0" err="1"/>
              <a:t>analyze</a:t>
            </a:r>
            <a:r>
              <a:rPr lang="en-IN" dirty="0"/>
              <a:t> large amounts of feedback faster. </a:t>
            </a:r>
          </a:p>
          <a:p>
            <a:pPr marL="514350" lvl="0" indent="-514350" algn="just">
              <a:buFont typeface="+mj-lt"/>
              <a:buAutoNum type="arabicPeriod"/>
            </a:pPr>
            <a:r>
              <a:rPr lang="en-IN" dirty="0"/>
              <a:t>Final prioritization requires business strategy and Product Manager judgment. </a:t>
            </a:r>
          </a:p>
          <a:p>
            <a:pPr marL="0" indent="0">
              <a:buNone/>
            </a:pPr>
            <a:endParaRPr lang="en-IN" dirty="0"/>
          </a:p>
        </p:txBody>
      </p:sp>
    </p:spTree>
    <p:extLst>
      <p:ext uri="{BB962C8B-B14F-4D97-AF65-F5344CB8AC3E}">
        <p14:creationId xmlns:p14="http://schemas.microsoft.com/office/powerpoint/2010/main" val="2809089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22C7-9CBA-C438-DAC8-019A6335C70D}"/>
              </a:ext>
            </a:extLst>
          </p:cNvPr>
          <p:cNvSpPr>
            <a:spLocks noGrp="1"/>
          </p:cNvSpPr>
          <p:nvPr>
            <p:ph type="title"/>
          </p:nvPr>
        </p:nvSpPr>
        <p:spPr/>
        <p:txBody>
          <a:bodyPr/>
          <a:lstStyle/>
          <a:p>
            <a:r>
              <a:rPr lang="en-IN" dirty="0"/>
              <a:t>Roadmap</a:t>
            </a:r>
          </a:p>
        </p:txBody>
      </p:sp>
      <p:sp>
        <p:nvSpPr>
          <p:cNvPr id="3" name="Content Placeholder 2">
            <a:extLst>
              <a:ext uri="{FF2B5EF4-FFF2-40B4-BE49-F238E27FC236}">
                <a16:creationId xmlns:a16="http://schemas.microsoft.com/office/drawing/2014/main" id="{93419E8A-81C3-F16A-3C0B-6730BECC8A00}"/>
              </a:ext>
            </a:extLst>
          </p:cNvPr>
          <p:cNvSpPr>
            <a:spLocks noGrp="1"/>
          </p:cNvSpPr>
          <p:nvPr>
            <p:ph idx="1"/>
          </p:nvPr>
        </p:nvSpPr>
        <p:spPr>
          <a:xfrm>
            <a:off x="757084" y="1494503"/>
            <a:ext cx="10596716" cy="4682460"/>
          </a:xfrm>
        </p:spPr>
        <p:txBody>
          <a:bodyPr/>
          <a:lstStyle/>
          <a:p>
            <a:pPr algn="just"/>
            <a:r>
              <a:rPr lang="en-IN" b="1" dirty="0"/>
              <a:t>NOW</a:t>
            </a:r>
            <a:endParaRPr lang="en-IN" dirty="0"/>
          </a:p>
          <a:p>
            <a:pPr marL="0" indent="0" algn="just">
              <a:buNone/>
            </a:pPr>
            <a:r>
              <a:rPr lang="en-IN" dirty="0"/>
              <a:t>High-impact + high-value + manageable effort features.</a:t>
            </a:r>
          </a:p>
          <a:p>
            <a:pPr algn="just"/>
            <a:r>
              <a:rPr lang="en-IN" b="1" dirty="0"/>
              <a:t>NEXT</a:t>
            </a:r>
            <a:endParaRPr lang="en-IN" dirty="0"/>
          </a:p>
          <a:p>
            <a:pPr marL="0" indent="0" algn="just">
              <a:buNone/>
            </a:pPr>
            <a:r>
              <a:rPr lang="en-IN" dirty="0"/>
              <a:t>Strategically important features requiring additional capacity or validation.</a:t>
            </a:r>
          </a:p>
          <a:p>
            <a:pPr algn="just"/>
            <a:r>
              <a:rPr lang="en-IN" b="1" dirty="0"/>
              <a:t>LATER</a:t>
            </a:r>
            <a:endParaRPr lang="en-IN" dirty="0"/>
          </a:p>
          <a:p>
            <a:pPr marL="0" indent="0" algn="just">
              <a:buNone/>
            </a:pPr>
            <a:r>
              <a:rPr lang="en-IN" dirty="0"/>
              <a:t>Low-impact/high-effort or lower-confidence opportunities.</a:t>
            </a:r>
          </a:p>
          <a:p>
            <a:endParaRPr lang="en-IN" dirty="0"/>
          </a:p>
        </p:txBody>
      </p:sp>
    </p:spTree>
    <p:extLst>
      <p:ext uri="{BB962C8B-B14F-4D97-AF65-F5344CB8AC3E}">
        <p14:creationId xmlns:p14="http://schemas.microsoft.com/office/powerpoint/2010/main" val="1104944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CED8D-6217-6D0A-7199-2471DE67DB27}"/>
              </a:ext>
            </a:extLst>
          </p:cNvPr>
          <p:cNvSpPr>
            <a:spLocks noGrp="1"/>
          </p:cNvSpPr>
          <p:nvPr>
            <p:ph type="title"/>
          </p:nvPr>
        </p:nvSpPr>
        <p:spPr/>
        <p:txBody>
          <a:bodyPr/>
          <a:lstStyle/>
          <a:p>
            <a:r>
              <a:rPr lang="en-IN" b="1" dirty="0"/>
              <a:t>Conclusion</a:t>
            </a:r>
            <a:br>
              <a:rPr lang="en-IN" b="1" dirty="0"/>
            </a:br>
            <a:endParaRPr lang="en-IN" dirty="0"/>
          </a:p>
        </p:txBody>
      </p:sp>
      <p:sp>
        <p:nvSpPr>
          <p:cNvPr id="3" name="Content Placeholder 2">
            <a:extLst>
              <a:ext uri="{FF2B5EF4-FFF2-40B4-BE49-F238E27FC236}">
                <a16:creationId xmlns:a16="http://schemas.microsoft.com/office/drawing/2014/main" id="{3E748A30-B9A2-751E-4B42-8987595B5CD8}"/>
              </a:ext>
            </a:extLst>
          </p:cNvPr>
          <p:cNvSpPr>
            <a:spLocks noGrp="1"/>
          </p:cNvSpPr>
          <p:nvPr>
            <p:ph idx="1"/>
          </p:nvPr>
        </p:nvSpPr>
        <p:spPr>
          <a:xfrm>
            <a:off x="838200" y="1027906"/>
            <a:ext cx="10515600" cy="4351338"/>
          </a:xfrm>
        </p:spPr>
        <p:txBody>
          <a:bodyPr/>
          <a:lstStyle/>
          <a:p>
            <a:pPr marL="0" indent="0">
              <a:buNone/>
            </a:pPr>
            <a:endParaRPr lang="en-IN" b="1" dirty="0"/>
          </a:p>
          <a:p>
            <a:pPr marL="0" indent="0" algn="just">
              <a:buNone/>
            </a:pPr>
            <a:r>
              <a:rPr lang="en-IN" dirty="0"/>
              <a:t>The project demonstrates how Product Management frameworks and AI-assisted analytics can be combined to make structured, evidence-based feature prioritization decisions. The framework helps connect customer needs with business value and engineering considerations and translates analysis into actionable product roadmap decisions.</a:t>
            </a:r>
          </a:p>
          <a:p>
            <a:pPr marL="0" indent="0">
              <a:buNone/>
            </a:pPr>
            <a:endParaRPr lang="en-IN" dirty="0"/>
          </a:p>
        </p:txBody>
      </p:sp>
    </p:spTree>
    <p:extLst>
      <p:ext uri="{BB962C8B-B14F-4D97-AF65-F5344CB8AC3E}">
        <p14:creationId xmlns:p14="http://schemas.microsoft.com/office/powerpoint/2010/main" val="2086708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389</Words>
  <Application>Microsoft Office PowerPoint</Application>
  <PresentationFormat>Widescreen</PresentationFormat>
  <Paragraphs>68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AI-Powered Product Feature Prioritization Framework</vt:lpstr>
      <vt:lpstr>Business Problem</vt:lpstr>
      <vt:lpstr>Objective</vt:lpstr>
      <vt:lpstr>Data </vt:lpstr>
      <vt:lpstr>Methodology</vt:lpstr>
      <vt:lpstr>AI Methodology</vt:lpstr>
      <vt:lpstr>Dashboard-</vt:lpstr>
      <vt:lpstr>Key Insights </vt:lpstr>
      <vt:lpstr>Roadmap</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Apeksha Bhoir</dc:creator>
  <cp:lastModifiedBy>Apeksha Bhoir</cp:lastModifiedBy>
  <cp:revision>1</cp:revision>
  <dcterms:created xsi:type="dcterms:W3CDTF">2026-08-17T19:37:31Z</dcterms:created>
  <dcterms:modified xsi:type="dcterms:W3CDTF">2026-08-17T19:47:12Z</dcterms:modified>
</cp:coreProperties>
</file>